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 varScale="1">
        <p:scale>
          <a:sx n="195" d="100"/>
          <a:sy n="195" d="100"/>
        </p:scale>
        <p:origin x="106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710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69966" y="1735485"/>
            <a:ext cx="340406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470"/>
              </a:lnSpc>
              <a:spcAft>
                <a:spcPts val="1200"/>
              </a:spcAft>
            </a:pPr>
            <a:r>
              <a:rPr lang="en-US" altLang="ko-KR" sz="1400" dirty="0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KNU </a:t>
            </a:r>
            <a:r>
              <a:rPr lang="ko-KR" altLang="en-US" sz="1400" dirty="0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고교 </a:t>
            </a:r>
            <a:r>
              <a:rPr lang="en-US" altLang="ko-KR" sz="1400" dirty="0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AI </a:t>
            </a:r>
            <a:r>
              <a:rPr lang="ko-KR" altLang="en-US" sz="1400" dirty="0" err="1">
                <a:solidFill>
                  <a:srgbClr val="3B82F6"/>
                </a:solidFill>
                <a:latin typeface="Arial" pitchFamily="34" charset="0"/>
                <a:cs typeface="Arial" pitchFamily="34" charset="-120"/>
              </a:rPr>
              <a:t>프론티어</a:t>
            </a:r>
            <a:endParaRPr lang="en-US" altLang="ko-KR" sz="1400" dirty="0"/>
          </a:p>
        </p:txBody>
      </p:sp>
      <p:sp>
        <p:nvSpPr>
          <p:cNvPr id="3" name="Text 1"/>
          <p:cNvSpPr/>
          <p:nvPr/>
        </p:nvSpPr>
        <p:spPr>
          <a:xfrm>
            <a:off x="3236119" y="2127796"/>
            <a:ext cx="2671763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00"/>
              </a:lnSpc>
              <a:spcAft>
                <a:spcPts val="1800"/>
              </a:spcAft>
              <a:buNone/>
            </a:pPr>
            <a:r>
              <a:rPr lang="en-US" sz="3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 실습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2869966" y="3194596"/>
            <a:ext cx="340406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+ PyTorch/Keras</a:t>
            </a:r>
            <a:endParaRPr lang="en-US" sz="1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916581B-AEE2-9F5C-4AE9-BAAAB8F05F3F}"/>
              </a:ext>
            </a:extLst>
          </p:cNvPr>
          <p:cNvSpPr/>
          <p:nvPr/>
        </p:nvSpPr>
        <p:spPr>
          <a:xfrm>
            <a:off x="3108147" y="2779365"/>
            <a:ext cx="2927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altLang="ko-KR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주</a:t>
            </a:r>
            <a:r>
              <a:rPr lang="en-US" altLang="ko-KR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)</a:t>
            </a:r>
            <a:r>
              <a:rPr lang="ko-KR" altLang="en-US" sz="1500" dirty="0" err="1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멜라카</a:t>
            </a:r>
            <a:r>
              <a:rPr lang="ko-KR" altLang="en-US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-</a:t>
            </a:r>
            <a:r>
              <a:rPr lang="ko-KR" altLang="en-US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ko-KR" altLang="en-US" sz="1500" dirty="0" err="1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배용빈</a:t>
            </a:r>
            <a:r>
              <a:rPr lang="ko-KR" altLang="en-US" sz="1500" dirty="0">
                <a:solidFill>
                  <a:srgbClr val="94A3B8"/>
                </a:solidFill>
                <a:latin typeface="Arial" pitchFamily="34" charset="0"/>
                <a:cs typeface="Arial" pitchFamily="34" charset="-120"/>
              </a:rPr>
              <a:t> 기술이사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복습: ML vs 딥러닝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9100" y="1558528"/>
            <a:ext cx="4038600" cy="2788295"/>
          </a:xfrm>
          <a:prstGeom prst="roundRect">
            <a:avLst>
              <a:gd name="adj" fmla="val 409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9100" y="1577578"/>
            <a:ext cx="40386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609600" y="1787128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2206228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2320528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특징 정의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723900" y="2531864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"나이, 성별, 요금을 봐"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09600" y="2888010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3900" y="3002310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정형 데이터에 강함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723900" y="3213646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표, 숫자, CSV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9600" y="3569791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3900" y="3684091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96%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23900" y="3895427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랜덤포레스트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1558528"/>
            <a:ext cx="4038600" cy="2788295"/>
          </a:xfrm>
          <a:prstGeom prst="roundRect">
            <a:avLst>
              <a:gd name="adj" fmla="val 4099"/>
            </a:avLst>
          </a:prstGeom>
          <a:solidFill>
            <a:srgbClr val="4A1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86300" y="1577578"/>
            <a:ext cx="4038600" cy="0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76800" y="1787128"/>
            <a:ext cx="37307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딥러닝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76800" y="2206228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1100" y="2320528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스스로 특징 학습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991100" y="2531864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"내가 알아서 찾을게"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76800" y="2888010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91100" y="3002310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비정형 데이터에 강함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991100" y="3213646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이미지, 텍스트, 음성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76800" y="3569791"/>
            <a:ext cx="3657600" cy="586532"/>
          </a:xfrm>
          <a:prstGeom prst="roundRect">
            <a:avLst>
              <a:gd name="adj" fmla="val 1299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91100" y="3684091"/>
            <a:ext cx="349758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99.7%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4991100" y="3895427"/>
            <a:ext cx="34975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1 - 기초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77031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신경망(Neural Network)이란?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817489"/>
            <a:ext cx="3498205" cy="1078111"/>
          </a:xfrm>
          <a:prstGeom prst="roundRect">
            <a:avLst>
              <a:gd name="adj" fmla="val 1060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007989"/>
            <a:ext cx="31795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뇌의 뉴런을 모방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308920"/>
            <a:ext cx="31795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→ 처리 → 출력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09600" y="2545110"/>
            <a:ext cx="31795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뉴런을 연결하면 복잡한 패턴 학습 가능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9100" y="3048000"/>
            <a:ext cx="3498205" cy="1276201"/>
          </a:xfrm>
          <a:prstGeom prst="roundRect">
            <a:avLst>
              <a:gd name="adj" fmla="val 895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238500"/>
            <a:ext cx="31795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구성요소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600" y="3539430"/>
            <a:ext cx="31795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입력층: 데이터 받는 곳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9600" y="3756571"/>
            <a:ext cx="31795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은닉층: 특징 추출 (여러 개)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3973711"/>
            <a:ext cx="31795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출력층: 결과 내보내는 곳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45905" y="1461939"/>
            <a:ext cx="4578995" cy="3217664"/>
          </a:xfrm>
          <a:prstGeom prst="roundRect">
            <a:avLst>
              <a:gd name="adj" fmla="val 355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/tmp/rasterized-svg-2917fd8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405" y="1652439"/>
            <a:ext cx="4197995" cy="27985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1 - 기초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뉴런 하나의 동작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896517"/>
            <a:ext cx="8305800" cy="1468487"/>
          </a:xfrm>
          <a:prstGeom prst="roundRect">
            <a:avLst>
              <a:gd name="adj" fmla="val 778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431058" y="2125117"/>
            <a:ext cx="7209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1438126" y="2347913"/>
            <a:ext cx="706785" cy="788491"/>
          </a:xfrm>
          <a:prstGeom prst="roundRect">
            <a:avLst>
              <a:gd name="adj" fmla="val 107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47644" y="2462213"/>
            <a:ext cx="4877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 = 0.5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47644" y="2648843"/>
            <a:ext cx="4877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x2 = 0.8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47644" y="2835473"/>
            <a:ext cx="48774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x3 = 0.2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328045" y="2125117"/>
            <a:ext cx="7512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2335411" y="2347913"/>
            <a:ext cx="736550" cy="788491"/>
          </a:xfrm>
          <a:prstGeom prst="roundRect">
            <a:avLst>
              <a:gd name="adj" fmla="val 1034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44631" y="2462213"/>
            <a:ext cx="5181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 = 0.4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44631" y="2648843"/>
            <a:ext cx="5181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 = 0.6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44631" y="2835473"/>
            <a:ext cx="51810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 = 0.3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62461" y="2470696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67330" y="2199382"/>
            <a:ext cx="145155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681561" y="2422178"/>
            <a:ext cx="1423095" cy="639961"/>
          </a:xfrm>
          <a:prstGeom prst="roundRect">
            <a:avLst>
              <a:gd name="adj" fmla="val 119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83916" y="2536478"/>
            <a:ext cx="12183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x1*w1 + x2*w2 + x3*w3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83916" y="2734568"/>
            <a:ext cx="121838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0.74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95156" y="2470696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06061" y="2199382"/>
            <a:ext cx="8358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활성화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714256" y="2422178"/>
            <a:ext cx="819448" cy="639961"/>
          </a:xfrm>
          <a:prstGeom prst="roundRect">
            <a:avLst>
              <a:gd name="adj" fmla="val 1190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22647" y="2536478"/>
            <a:ext cx="602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ReLU(0.74)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22647" y="2734568"/>
            <a:ext cx="6026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0.74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4204" y="2470696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37679" y="2285107"/>
            <a:ext cx="5736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143304" y="2507903"/>
            <a:ext cx="562421" cy="468511"/>
          </a:xfrm>
          <a:prstGeom prst="roundRect">
            <a:avLst>
              <a:gd name="adj" fmla="val 1626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54265" y="2622203"/>
            <a:ext cx="34049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0.74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19100" y="3517404"/>
            <a:ext cx="2667000" cy="727621"/>
          </a:xfrm>
          <a:prstGeom prst="roundRect">
            <a:avLst>
              <a:gd name="adj" fmla="val 157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71500" y="3669804"/>
            <a:ext cx="24094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(Weight)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1500" y="3932634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입력의 중요도. 학습하면서 조정됨!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38500" y="3517404"/>
            <a:ext cx="2667000" cy="727621"/>
          </a:xfrm>
          <a:prstGeom prst="roundRect">
            <a:avLst>
              <a:gd name="adj" fmla="val 157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90900" y="3669804"/>
            <a:ext cx="24094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활성화 함수 (ReLU)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390900" y="3932634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음수 → 0, 양수 → 그대로. 비선형성 추가!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57900" y="3517404"/>
            <a:ext cx="2667000" cy="727621"/>
          </a:xfrm>
          <a:prstGeom prst="roundRect">
            <a:avLst>
              <a:gd name="adj" fmla="val 157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10300" y="3669804"/>
            <a:ext cx="240944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= 가중치 조정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0300" y="3932634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정답과 비교해서 가중치를 조금씩 수정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1 - 기초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신경망은 어떻게 학습할까?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705273"/>
            <a:ext cx="1676400" cy="1291233"/>
          </a:xfrm>
          <a:prstGeom prst="roundRect">
            <a:avLst>
              <a:gd name="adj" fmla="val 8852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7784" y="1857673"/>
            <a:ext cx="139903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57784" y="2307134"/>
            <a:ext cx="13990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순전파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57784" y="2550914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→ 출력 계산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57784" y="2697510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(랜덤 가중치로 시작)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2247900" y="2190899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824"/>
              </a:spcBef>
              <a:spcAft>
                <a:spcPts val="3824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28900" y="1705273"/>
            <a:ext cx="1676400" cy="1291233"/>
          </a:xfrm>
          <a:prstGeom prst="roundRect">
            <a:avLst>
              <a:gd name="adj" fmla="val 8852"/>
            </a:avLst>
          </a:prstGeom>
          <a:solidFill>
            <a:srgbClr val="3D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67584" y="1857673"/>
            <a:ext cx="139903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767584" y="2307134"/>
            <a:ext cx="13990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오차 계산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67584" y="2550914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vs 정답 비교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767584" y="2697510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(Loss 함수)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457700" y="2190899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824"/>
              </a:spcBef>
              <a:spcAft>
                <a:spcPts val="3824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38700" y="1705273"/>
            <a:ext cx="1676400" cy="1291233"/>
          </a:xfrm>
          <a:prstGeom prst="roundRect">
            <a:avLst>
              <a:gd name="adj" fmla="val 8852"/>
            </a:avLst>
          </a:prstGeom>
          <a:solidFill>
            <a:srgbClr val="3D1A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77384" y="1857673"/>
            <a:ext cx="139903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977384" y="2307134"/>
            <a:ext cx="13990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역전파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77384" y="2550914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오차를 뒤로 전달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977384" y="2697510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(누가 틀렸나?)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667500" y="2190899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spcBef>
                <a:spcPts val="3824"/>
              </a:spcBef>
              <a:spcAft>
                <a:spcPts val="3824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8500" y="1705273"/>
            <a:ext cx="1676400" cy="1291233"/>
          </a:xfrm>
          <a:prstGeom prst="roundRect">
            <a:avLst>
              <a:gd name="adj" fmla="val 8852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87184" y="1857673"/>
            <a:ext cx="1399032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187184" y="2307134"/>
            <a:ext cx="139903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업데이트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187184" y="2550914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오차 줄이는 방향으로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7187184" y="2697510"/>
            <a:ext cx="13990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(경사하강법)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19100" y="3148905"/>
            <a:ext cx="8305800" cy="491430"/>
          </a:xfrm>
          <a:prstGeom prst="roundRect">
            <a:avLst>
              <a:gd name="adj" fmla="val 2325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490" y="3301305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과정을 수천~수만 번 반복 = 학습 완료!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9100" y="3792736"/>
            <a:ext cx="2667000" cy="643682"/>
          </a:xfrm>
          <a:prstGeom prst="roundRect">
            <a:avLst>
              <a:gd name="adj" fmla="val 177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2450" y="3926086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(에폭)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52450" y="4156472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데이터를 한 번 학습 = 1 에폭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3238500" y="3792736"/>
            <a:ext cx="2667000" cy="643682"/>
          </a:xfrm>
          <a:prstGeom prst="roundRect">
            <a:avLst>
              <a:gd name="adj" fmla="val 177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371850" y="3926086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(배치)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3371850" y="4156472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학습하는 데이터 개수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6057900" y="3792736"/>
            <a:ext cx="2667000" cy="643682"/>
          </a:xfrm>
          <a:prstGeom prst="roundRect">
            <a:avLst>
              <a:gd name="adj" fmla="val 1775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191250" y="3926086"/>
            <a:ext cx="244830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6191250" y="4156472"/>
            <a:ext cx="2448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조정 폭 (너무 크면 발산)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MNIST: 첫 신경망 만들기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638598"/>
            <a:ext cx="3848100" cy="1108472"/>
          </a:xfrm>
          <a:prstGeom prst="roundRect">
            <a:avLst>
              <a:gd name="adj" fmla="val 10311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8150" y="1638598"/>
            <a:ext cx="0" cy="110847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7700" y="1829098"/>
            <a:ext cx="34975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7700" y="2118568"/>
            <a:ext cx="3497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Dense(완전연결) 신경망으로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7700" y="2343299"/>
            <a:ext cx="34975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97% 달성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9100" y="2899470"/>
            <a:ext cx="3848100" cy="1603474"/>
          </a:xfrm>
          <a:prstGeom prst="roundRect">
            <a:avLst>
              <a:gd name="adj" fmla="val 712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3089970"/>
            <a:ext cx="353644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구조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3390900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784 (28x28 펼침)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9600" y="3640336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Dense: 128 뉴런 + ReLU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9600" y="3889772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Dense: 64 뉴런 + ReLU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09600" y="4139208"/>
            <a:ext cx="3536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10 (숫자 0~9)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495800" y="1641128"/>
            <a:ext cx="4229100" cy="2859286"/>
          </a:xfrm>
          <a:prstGeom prst="roundRect">
            <a:avLst>
              <a:gd name="adj" fmla="val 3998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686300" y="1831628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신경망 구조</a:t>
            </a:r>
            <a:endParaRPr lang="en-US" sz="900" dirty="0"/>
          </a:p>
        </p:txBody>
      </p:sp>
      <p:pic>
        <p:nvPicPr>
          <p:cNvPr id="17" name="Image 0" descr="/tmp/rasterized-svg-95a5f4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105918"/>
            <a:ext cx="3848100" cy="17145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686300" y="3934718"/>
            <a:ext cx="3848100" cy="375196"/>
          </a:xfrm>
          <a:prstGeom prst="roundRect">
            <a:avLst>
              <a:gd name="adj" fmla="val 203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800600" y="4049018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파라미터: 약 10만 개 (가중치)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2 - CNN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CNN: 이미지 전문가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468934"/>
            <a:ext cx="3498205" cy="925711"/>
          </a:xfrm>
          <a:prstGeom prst="roundRect">
            <a:avLst>
              <a:gd name="adj" fmla="val 123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621334"/>
            <a:ext cx="32572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Dense의 한계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884164"/>
            <a:ext cx="32572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 1차원으로 펼침 → 위치 정보 손실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2082254"/>
            <a:ext cx="32572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고양이가 왼쪽/오른쪽에 있어도 다른 입력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9100" y="2508945"/>
            <a:ext cx="3498205" cy="925711"/>
          </a:xfrm>
          <a:prstGeom prst="roundRect">
            <a:avLst>
              <a:gd name="adj" fmla="val 12347"/>
            </a:avLst>
          </a:prstGeom>
          <a:solidFill>
            <a:srgbClr val="4A1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150" y="2508945"/>
            <a:ext cx="0" cy="925711"/>
          </a:xfrm>
          <a:prstGeom prst="line">
            <a:avLst/>
          </a:prstGeom>
          <a:noFill/>
          <a:ln w="381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9600" y="2661345"/>
            <a:ext cx="32184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CNN의 해결책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2924175"/>
            <a:ext cx="32184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필터가 이미지 위를 슬라이딩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3122265"/>
            <a:ext cx="32184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위치와 상관없이 특징 감지!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9100" y="3548955"/>
            <a:ext cx="3498205" cy="1123801"/>
          </a:xfrm>
          <a:prstGeom prst="roundRect">
            <a:avLst>
              <a:gd name="adj" fmla="val 101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3701355"/>
            <a:ext cx="32572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핵심 레이어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3964186"/>
            <a:ext cx="32572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Conv2D: 필터로 특징 추출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1500" y="4162276"/>
            <a:ext cx="32572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MaxPooling: 크기 줄이기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" y="4360366"/>
            <a:ext cx="32572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→ Dense: 분류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45905" y="1793528"/>
            <a:ext cx="4578995" cy="2554486"/>
          </a:xfrm>
          <a:prstGeom prst="roundRect">
            <a:avLst>
              <a:gd name="adj" fmla="val 447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36405" y="1984028"/>
            <a:ext cx="4281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3x3 필터가 이미지 위를 이동</a:t>
            </a:r>
            <a:endParaRPr lang="en-US" sz="900" dirty="0"/>
          </a:p>
        </p:txBody>
      </p:sp>
      <p:pic>
        <p:nvPicPr>
          <p:cNvPr id="20" name="Image 0" descr="/tmp/rasterized-svg-895fac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6405" y="2258318"/>
            <a:ext cx="4197995" cy="1524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336405" y="3820418"/>
            <a:ext cx="4197995" cy="337096"/>
          </a:xfrm>
          <a:prstGeom prst="roundRect">
            <a:avLst>
              <a:gd name="adj" fmla="val 22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431655" y="3915668"/>
            <a:ext cx="4087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필터가 학습됨: 엣지, 코너, 패턴 등을 자동으로 감지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2 - CNN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레이어 이해하기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606004"/>
            <a:ext cx="2667000" cy="1300907"/>
          </a:xfrm>
          <a:prstGeom prst="roundRect">
            <a:avLst>
              <a:gd name="adj" fmla="val 87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758404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 (합성곱)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1500" y="2066925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필터가 이미지 위를 슬라이딩하며 특징 추출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2303115"/>
            <a:ext cx="2362200" cy="451396"/>
          </a:xfrm>
          <a:prstGeom prst="roundRect">
            <a:avLst>
              <a:gd name="adj" fmla="val 1266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7700" y="2379315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Conv2D(32, (3,3))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47700" y="2544961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32개의 3x3 필터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38500" y="1606004"/>
            <a:ext cx="2667000" cy="1300907"/>
          </a:xfrm>
          <a:prstGeom prst="roundRect">
            <a:avLst>
              <a:gd name="adj" fmla="val 87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90900" y="1758404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MaxPooling2D (풀링)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0900" y="2066925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영역에서 최댓값만 선택 → 크기 축소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90900" y="2303115"/>
            <a:ext cx="2362200" cy="451396"/>
          </a:xfrm>
          <a:prstGeom prst="roundRect">
            <a:avLst>
              <a:gd name="adj" fmla="val 1266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67100" y="2379315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MaxPooling2D((2,2))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467100" y="2544961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2x2 영역 → 1픽셀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057900" y="1606004"/>
            <a:ext cx="2667000" cy="1300907"/>
          </a:xfrm>
          <a:prstGeom prst="roundRect">
            <a:avLst>
              <a:gd name="adj" fmla="val 878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10300" y="1758404"/>
            <a:ext cx="240944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+ Dense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0300" y="2066925"/>
            <a:ext cx="24094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→ 1D 변환 후 분류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0300" y="2303115"/>
            <a:ext cx="2362200" cy="451396"/>
          </a:xfrm>
          <a:prstGeom prst="roundRect">
            <a:avLst>
              <a:gd name="adj" fmla="val 1266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86500" y="2379315"/>
            <a:ext cx="225399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Flatten() → Dense(10)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286500" y="2544961"/>
            <a:ext cx="22539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분류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9100" y="3021211"/>
            <a:ext cx="8305800" cy="1011436"/>
          </a:xfrm>
          <a:prstGeom prst="roundRect">
            <a:avLst>
              <a:gd name="adj" fmla="val 1130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71500" y="3173611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전체 흐름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85479" y="3428851"/>
            <a:ext cx="548580" cy="451396"/>
          </a:xfrm>
          <a:prstGeom prst="roundRect">
            <a:avLst>
              <a:gd name="adj" fmla="val 1266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757717" y="3505051"/>
            <a:ext cx="4041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757717" y="3657451"/>
            <a:ext cx="4041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28x28x1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310259" y="352112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576959" y="3428851"/>
            <a:ext cx="606921" cy="451396"/>
          </a:xfrm>
          <a:prstGeom prst="roundRect">
            <a:avLst>
              <a:gd name="adj" fmla="val 12661"/>
            </a:avLst>
          </a:prstGeom>
          <a:solidFill>
            <a:srgbClr val="4A1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648614" y="3505051"/>
            <a:ext cx="4636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648614" y="3657451"/>
            <a:ext cx="4636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26x26x32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3260080" y="352112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526780" y="3428851"/>
            <a:ext cx="606921" cy="451396"/>
          </a:xfrm>
          <a:prstGeom prst="roundRect">
            <a:avLst>
              <a:gd name="adj" fmla="val 1266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598435" y="3505051"/>
            <a:ext cx="4636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598435" y="3657451"/>
            <a:ext cx="4636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13x13x32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209901" y="352112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476601" y="3428851"/>
            <a:ext cx="591294" cy="451396"/>
          </a:xfrm>
          <a:prstGeom prst="roundRect">
            <a:avLst>
              <a:gd name="adj" fmla="val 12661"/>
            </a:avLst>
          </a:prstGeom>
          <a:solidFill>
            <a:srgbClr val="4A1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548412" y="3505051"/>
            <a:ext cx="4476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48412" y="3657451"/>
            <a:ext cx="44767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11x11x64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5144095" y="352112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5410795" y="3428851"/>
            <a:ext cx="490389" cy="451396"/>
          </a:xfrm>
          <a:prstGeom prst="roundRect">
            <a:avLst>
              <a:gd name="adj" fmla="val 12661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483615" y="3505051"/>
            <a:ext cx="3447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483615" y="3657451"/>
            <a:ext cx="3447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5x5x64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5977384" y="352112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244084" y="3428851"/>
            <a:ext cx="443657" cy="451396"/>
          </a:xfrm>
          <a:prstGeom prst="roundRect">
            <a:avLst>
              <a:gd name="adj" fmla="val 1288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17371" y="3505051"/>
            <a:ext cx="2970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17371" y="3657451"/>
            <a:ext cx="2970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1600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6763941" y="3521125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030641" y="3428851"/>
            <a:ext cx="427732" cy="451396"/>
          </a:xfrm>
          <a:prstGeom prst="roundRect">
            <a:avLst>
              <a:gd name="adj" fmla="val 13361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104087" y="3505051"/>
            <a:ext cx="280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104087" y="3657451"/>
            <a:ext cx="28083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419100" y="4146947"/>
            <a:ext cx="8305800" cy="388590"/>
          </a:xfrm>
          <a:prstGeom prst="roundRect">
            <a:avLst>
              <a:gd name="adj" fmla="val 19609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433388" y="4146947"/>
            <a:ext cx="0" cy="38859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61975" y="4261247"/>
            <a:ext cx="82095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Conv → Pool 반복으로 점점 추상적인 특징 추출!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CNN: 99% 돌파!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718518"/>
            <a:ext cx="4038600" cy="1135112"/>
          </a:xfrm>
          <a:prstGeom prst="roundRect">
            <a:avLst>
              <a:gd name="adj" fmla="val 10069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8150" y="1718518"/>
            <a:ext cx="0" cy="113511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7700" y="1909018"/>
            <a:ext cx="369189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7700" y="2198489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CNN으로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7700" y="2423220"/>
            <a:ext cx="36918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99% 달성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9100" y="3006030"/>
            <a:ext cx="4038600" cy="1417141"/>
          </a:xfrm>
          <a:prstGeom prst="roundRect">
            <a:avLst>
              <a:gd name="adj" fmla="val 806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3158430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구조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459361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Conv2D(32) → MaxPool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" y="3676501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Conv2D(64) → MaxPool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1500" y="3893641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Flatten → Dense(128)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1500" y="4110782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6300" y="1745010"/>
            <a:ext cx="4038600" cy="1375321"/>
          </a:xfrm>
          <a:prstGeom prst="roundRect">
            <a:avLst>
              <a:gd name="adj" fmla="val 831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76800" y="1935510"/>
            <a:ext cx="373075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vs CNN 비교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76800" y="2236440"/>
            <a:ext cx="1752600" cy="693390"/>
          </a:xfrm>
          <a:prstGeom prst="roundRect">
            <a:avLst>
              <a:gd name="adj" fmla="val 1098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75860" y="2350740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75860" y="2548830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~97%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81800" y="2236440"/>
            <a:ext cx="1752600" cy="693390"/>
          </a:xfrm>
          <a:prstGeom prst="roundRect">
            <a:avLst>
              <a:gd name="adj" fmla="val 1098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880860" y="2350740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80860" y="2548830"/>
            <a:ext cx="1554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~99%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86300" y="3272730"/>
            <a:ext cx="4038600" cy="1123801"/>
          </a:xfrm>
          <a:prstGeom prst="roundRect">
            <a:avLst>
              <a:gd name="adj" fmla="val 101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8700" y="3425130"/>
            <a:ext cx="380847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CNN이 더 좋을까?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38700" y="3687961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공간 정보 보존 (2D 구조 유지)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38700" y="3886051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파라미터 효율적 (필터 공유)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38700" y="4084141"/>
            <a:ext cx="38084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위치 불변성 (어디서든 감지)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42055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CIFAR-10: 컬러 이미지 분류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823293"/>
            <a:ext cx="3498205" cy="1377107"/>
          </a:xfrm>
          <a:prstGeom prst="roundRect">
            <a:avLst>
              <a:gd name="adj" fmla="val 83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013793"/>
            <a:ext cx="317954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 vs CIFAR-10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2314724"/>
            <a:ext cx="1501527" cy="695176"/>
          </a:xfrm>
          <a:prstGeom prst="roundRect">
            <a:avLst>
              <a:gd name="adj" fmla="val 1096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1740" y="2409974"/>
            <a:ext cx="13372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MNIST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91740" y="2594670"/>
            <a:ext cx="13372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28x28 흑백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91740" y="2754660"/>
            <a:ext cx="13372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10개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25427" y="2314724"/>
            <a:ext cx="1501527" cy="695176"/>
          </a:xfrm>
          <a:prstGeom prst="roundRect">
            <a:avLst>
              <a:gd name="adj" fmla="val 1096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307567" y="2409974"/>
            <a:ext cx="133724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CIFAR-10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307567" y="2594670"/>
            <a:ext cx="13372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32x32 컬러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07567" y="2754660"/>
            <a:ext cx="133724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사물 10개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9100" y="3352800"/>
            <a:ext cx="3498205" cy="965597"/>
          </a:xfrm>
          <a:prstGeom prst="roundRect">
            <a:avLst>
              <a:gd name="adj" fmla="val 11837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38150" y="3352800"/>
            <a:ext cx="0" cy="96559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09600" y="3505200"/>
            <a:ext cx="32184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도전 목표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3768030"/>
            <a:ext cx="3218411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75% 넘기기!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9600" y="4019401"/>
            <a:ext cx="321841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(MNIST보다 훨씬 어려움)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145905" y="1961257"/>
            <a:ext cx="4578995" cy="2219027"/>
          </a:xfrm>
          <a:prstGeom prst="roundRect">
            <a:avLst>
              <a:gd name="adj" fmla="val 515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36405" y="2151757"/>
            <a:ext cx="4281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10개 클래스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01902" y="2426047"/>
            <a:ext cx="514350" cy="518071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13344" y="2502247"/>
            <a:ext cx="2914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13344" y="2734568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비행기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92452" y="2426047"/>
            <a:ext cx="514350" cy="518071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03894" y="2502247"/>
            <a:ext cx="2914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03894" y="2734568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자동차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683002" y="2426047"/>
            <a:ext cx="418802" cy="518071"/>
          </a:xfrm>
          <a:prstGeom prst="roundRect">
            <a:avLst>
              <a:gd name="adj" fmla="val 1364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795400" y="2502247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95400" y="2734568"/>
            <a:ext cx="194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178004" y="2426047"/>
            <a:ext cx="514350" cy="518071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89447" y="2502247"/>
            <a:ext cx="2914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89447" y="2734568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고양이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68554" y="2426047"/>
            <a:ext cx="419100" cy="518071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80949" y="2502247"/>
            <a:ext cx="1943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🦌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80949" y="2734568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사슴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263854" y="2426047"/>
            <a:ext cx="514350" cy="518071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375297" y="2502247"/>
            <a:ext cx="2914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75297" y="2734568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강아지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854404" y="2426047"/>
            <a:ext cx="514350" cy="518071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965847" y="2502247"/>
            <a:ext cx="2914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🐸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965847" y="2734568"/>
            <a:ext cx="291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개구리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730776" y="3020318"/>
            <a:ext cx="418802" cy="518071"/>
          </a:xfrm>
          <a:prstGeom prst="roundRect">
            <a:avLst>
              <a:gd name="adj" fmla="val 1364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843174" y="3096518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🐴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843174" y="3328839"/>
            <a:ext cx="194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25778" y="3020318"/>
            <a:ext cx="418802" cy="518071"/>
          </a:xfrm>
          <a:prstGeom prst="roundRect">
            <a:avLst>
              <a:gd name="adj" fmla="val 1364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338176" y="3096518"/>
            <a:ext cx="19400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🚢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338176" y="3328839"/>
            <a:ext cx="194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720780" y="3020318"/>
            <a:ext cx="419100" cy="518071"/>
          </a:xfrm>
          <a:prstGeom prst="roundRect">
            <a:avLst>
              <a:gd name="adj" fmla="val 136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33175" y="3096518"/>
            <a:ext cx="1943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🚚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33175" y="3328839"/>
            <a:ext cx="1943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트럭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336405" y="3652689"/>
            <a:ext cx="4197995" cy="337096"/>
          </a:xfrm>
          <a:prstGeom prst="roundRect">
            <a:avLst>
              <a:gd name="adj" fmla="val 22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431655" y="3747939"/>
            <a:ext cx="40876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50,000 학습 + 10,000 테스트 이미지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3 - 전이학습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6051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전이학습: 거인의 어깨 위에서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369814"/>
            <a:ext cx="3848100" cy="1123801"/>
          </a:xfrm>
          <a:prstGeom prst="roundRect">
            <a:avLst>
              <a:gd name="adj" fmla="val 101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522214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학습의 문제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785045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부족 (수천 장으로 충분?)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1983135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시간 (GPU로 며칠)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1500" y="2181225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한계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9100" y="2607915"/>
            <a:ext cx="3848100" cy="925711"/>
          </a:xfrm>
          <a:prstGeom prst="roundRect">
            <a:avLst>
              <a:gd name="adj" fmla="val 12347"/>
            </a:avLst>
          </a:prstGeom>
          <a:solidFill>
            <a:srgbClr val="2D1F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38150" y="2607915"/>
            <a:ext cx="0" cy="925711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9600" y="2760315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전이학습 (Transfer Learning)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9600" y="3023146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학습된 모델을 가져와서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9600" y="3221236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데이터에 맞게 조금만 수정!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9100" y="3647926"/>
            <a:ext cx="3848100" cy="1123801"/>
          </a:xfrm>
          <a:prstGeom prst="roundRect">
            <a:avLst>
              <a:gd name="adj" fmla="val 101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1500" y="3800326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1500" y="4063157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적은 데이터로 고성능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" y="4261247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학습 (몇 분)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" y="4459337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성능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95800" y="1339453"/>
            <a:ext cx="4229100" cy="3462635"/>
          </a:xfrm>
          <a:prstGeom prst="roundRect">
            <a:avLst>
              <a:gd name="adj" fmla="val 3301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86300" y="1529953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전이학습 원리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6300" y="1842343"/>
            <a:ext cx="3848100" cy="738932"/>
          </a:xfrm>
          <a:prstGeom prst="roundRect">
            <a:avLst>
              <a:gd name="adj" fmla="val 1031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0600" y="1956643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사전학습 모델 (ImageNet)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154734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1400만 이미지, 1000개 클래스로 학습됨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800600" y="2320379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ResNet, VGG, EfficientNet 등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47819" y="2695575"/>
            <a:ext cx="39250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특징 추출 부분만 가져옴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86300" y="3023146"/>
            <a:ext cx="38481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0600" y="3137446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마지막 층만 교체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335536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1000개 출력 → 2개 출력 (개 vs 고양이)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647819" y="3710732"/>
            <a:ext cx="392506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내 데이터로 미세조정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86300" y="4038302"/>
            <a:ext cx="3848100" cy="573286"/>
          </a:xfrm>
          <a:prstGeom prst="roundRect">
            <a:avLst>
              <a:gd name="adj" fmla="val 13292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00600" y="4152602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완성!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4350693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적은 데이터로 고성능 달성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vs 고양이 분류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556593"/>
            <a:ext cx="3848100" cy="1108472"/>
          </a:xfrm>
          <a:prstGeom prst="roundRect">
            <a:avLst>
              <a:gd name="adj" fmla="val 10311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8150" y="1556593"/>
            <a:ext cx="0" cy="110847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7700" y="1747093"/>
            <a:ext cx="34975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7700" y="2036564"/>
            <a:ext cx="3497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전이학습으로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7700" y="2261295"/>
            <a:ext cx="34975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 정확도 달성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9100" y="2817465"/>
            <a:ext cx="3848100" cy="925562"/>
          </a:xfrm>
          <a:prstGeom prst="roundRect">
            <a:avLst>
              <a:gd name="adj" fmla="val 123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969865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사용할 모델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232696"/>
            <a:ext cx="36141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71500" y="3444032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50층 깊이, ImageNet 학습 완료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19100" y="3857327"/>
            <a:ext cx="3848100" cy="727621"/>
          </a:xfrm>
          <a:prstGeom prst="roundRect">
            <a:avLst>
              <a:gd name="adj" fmla="val 157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4009727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4272558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 사진으로 테스트!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95800" y="1371898"/>
            <a:ext cx="4229100" cy="3397746"/>
          </a:xfrm>
          <a:prstGeom prst="roundRect">
            <a:avLst>
              <a:gd name="adj" fmla="val 3364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86300" y="1562398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전이학습 구조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86300" y="1874788"/>
            <a:ext cx="3848100" cy="777032"/>
          </a:xfrm>
          <a:prstGeom prst="roundRect">
            <a:avLst>
              <a:gd name="adj" fmla="val 9807"/>
            </a:avLst>
          </a:prstGeom>
          <a:solidFill>
            <a:srgbClr val="2D1F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19650" y="2008138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ResNet50 (동결)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819650" y="2219474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ImageNet에서 학습된 가중치 그대로 사용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9650" y="2385120"/>
            <a:ext cx="365302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2300만 파라미터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647819" y="2728020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86300" y="2990850"/>
            <a:ext cx="3848100" cy="624632"/>
          </a:xfrm>
          <a:prstGeom prst="roundRect">
            <a:avLst>
              <a:gd name="adj" fmla="val 1219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9650" y="3124200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GlobalAveragePooling2D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19650" y="3335536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 맵을 1D로 변환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47819" y="3691682"/>
            <a:ext cx="392506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86300" y="3954512"/>
            <a:ext cx="3848100" cy="624632"/>
          </a:xfrm>
          <a:prstGeom prst="roundRect">
            <a:avLst>
              <a:gd name="adj" fmla="val 12199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19650" y="4087862"/>
            <a:ext cx="3653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Dense(1, sigmoid) - 새로 학습!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4819650" y="4299198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개(0) vs 고양이(1) 출력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4 - 자연어 처리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텍스트를 이해하는 AI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969889"/>
            <a:ext cx="3886200" cy="670471"/>
          </a:xfrm>
          <a:prstGeom prst="roundRect">
            <a:avLst>
              <a:gd name="adj" fmla="val 1704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2103239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문제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2450" y="2347020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컴퓨터는 숫자만 이해함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9100" y="2735610"/>
            <a:ext cx="3886200" cy="670471"/>
          </a:xfrm>
          <a:prstGeom prst="roundRect">
            <a:avLst>
              <a:gd name="adj" fmla="val 17048"/>
            </a:avLst>
          </a:prstGeom>
          <a:solidFill>
            <a:srgbClr val="3D2F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8150" y="2735610"/>
            <a:ext cx="0" cy="67047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90550" y="2868960"/>
            <a:ext cx="36530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해결책: 임베딩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0550" y="3112740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단어 → 숫자 벡터로 변환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9100" y="3501330"/>
            <a:ext cx="3886200" cy="670471"/>
          </a:xfrm>
          <a:prstGeom prst="roundRect">
            <a:avLst>
              <a:gd name="adj" fmla="val 1704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2450" y="3634680"/>
            <a:ext cx="369189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임베딩의 마법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2450" y="3878461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비슷한 단어 → 비슷한 벡터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33900" y="1705124"/>
            <a:ext cx="4191000" cy="2731294"/>
          </a:xfrm>
          <a:prstGeom prst="roundRect">
            <a:avLst>
              <a:gd name="adj" fmla="val 4185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86300" y="1857524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75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→ 숫자 변환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86300" y="2112764"/>
            <a:ext cx="3886200" cy="337096"/>
          </a:xfrm>
          <a:prstGeom prst="roundRect">
            <a:avLst>
              <a:gd name="adj" fmla="val 22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81550" y="2208014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원본: "이 영화 정말 재밌어요!"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47438" y="2507010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6300" y="2724150"/>
            <a:ext cx="3886200" cy="337096"/>
          </a:xfrm>
          <a:prstGeom prst="roundRect">
            <a:avLst>
              <a:gd name="adj" fmla="val 22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81550" y="2819400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토큰: ["이", "영화", "정말", "재밌어요"]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647438" y="3118396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86300" y="3335536"/>
            <a:ext cx="3886200" cy="337096"/>
          </a:xfrm>
          <a:prstGeom prst="roundRect">
            <a:avLst>
              <a:gd name="adj" fmla="val 226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1550" y="3430786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숫자: [5, 23, 156, 892]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47438" y="3729782"/>
            <a:ext cx="396392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86300" y="3946922"/>
            <a:ext cx="3886200" cy="337096"/>
          </a:xfrm>
          <a:prstGeom prst="roundRect">
            <a:avLst>
              <a:gd name="adj" fmla="val 22605"/>
            </a:avLst>
          </a:prstGeom>
          <a:solidFill>
            <a:srgbClr val="3D2F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81550" y="4042172"/>
            <a:ext cx="37696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벡터: [[0.1, 0.8...], ...]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4 - 자연어 처리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RNN과 LSTM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667024"/>
            <a:ext cx="3498205" cy="925711"/>
          </a:xfrm>
          <a:prstGeom prst="roundRect">
            <a:avLst>
              <a:gd name="adj" fmla="val 123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819424"/>
            <a:ext cx="32572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 (순환 신경망)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2082254"/>
            <a:ext cx="32572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순서가 있는 데이터 처리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2280345"/>
            <a:ext cx="32572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정보를 기억하며 진행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9100" y="2707035"/>
            <a:ext cx="3498205" cy="925711"/>
          </a:xfrm>
          <a:prstGeom prst="roundRect">
            <a:avLst>
              <a:gd name="adj" fmla="val 12347"/>
            </a:avLst>
          </a:prstGeom>
          <a:solidFill>
            <a:srgbClr val="3D2F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150" y="2707035"/>
            <a:ext cx="0" cy="92571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9600" y="2859435"/>
            <a:ext cx="321841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3122265"/>
            <a:ext cx="32184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Short-Term Memory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3320355"/>
            <a:ext cx="321841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문장도 잘 기억!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9100" y="3747046"/>
            <a:ext cx="3498205" cy="727621"/>
          </a:xfrm>
          <a:prstGeom prst="roundRect">
            <a:avLst>
              <a:gd name="adj" fmla="val 157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3899446"/>
            <a:ext cx="325727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활용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4162276"/>
            <a:ext cx="32572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감성분석, 번역, 챗봇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45905" y="1945035"/>
            <a:ext cx="4578995" cy="2251472"/>
          </a:xfrm>
          <a:prstGeom prst="roundRect">
            <a:avLst>
              <a:gd name="adj" fmla="val 507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36405" y="2135535"/>
            <a:ext cx="42819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LSTM이 문장을 읽는 방법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92303" y="2409825"/>
            <a:ext cx="342900" cy="312390"/>
          </a:xfrm>
          <a:prstGeom prst="roundRect">
            <a:avLst>
              <a:gd name="adj" fmla="val 182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06603" y="2486025"/>
            <a:ext cx="1165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92353" y="2472630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82853" y="2409825"/>
            <a:ext cx="457200" cy="312390"/>
          </a:xfrm>
          <a:prstGeom prst="roundRect">
            <a:avLst>
              <a:gd name="adj" fmla="val 182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97153" y="2486025"/>
            <a:ext cx="233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영화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7203" y="2472630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87703" y="2409825"/>
            <a:ext cx="457200" cy="312390"/>
          </a:xfrm>
          <a:prstGeom prst="roundRect">
            <a:avLst>
              <a:gd name="adj" fmla="val 1829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502003" y="2486025"/>
            <a:ext cx="233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02053" y="2472630"/>
            <a:ext cx="13601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92553" y="2409825"/>
            <a:ext cx="685800" cy="312390"/>
          </a:xfrm>
          <a:prstGeom prst="roundRect">
            <a:avLst>
              <a:gd name="adj" fmla="val 18294"/>
            </a:avLst>
          </a:prstGeom>
          <a:solidFill>
            <a:srgbClr val="3D2F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06853" y="2486025"/>
            <a:ext cx="4663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재밌어요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36405" y="2874615"/>
            <a:ext cx="4197995" cy="375196"/>
          </a:xfrm>
          <a:prstGeom prst="roundRect">
            <a:avLst>
              <a:gd name="adj" fmla="val 2030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50705" y="2988915"/>
            <a:ext cx="404878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단어를 순서대로 읽으며 문맥 파악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336405" y="3364111"/>
            <a:ext cx="2060972" cy="641896"/>
          </a:xfrm>
          <a:prstGeom prst="roundRect">
            <a:avLst>
              <a:gd name="adj" fmla="val 11871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412950" y="3459361"/>
            <a:ext cx="19078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412950" y="3764161"/>
            <a:ext cx="19078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 85%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473577" y="3364111"/>
            <a:ext cx="2060972" cy="641896"/>
          </a:xfrm>
          <a:prstGeom prst="roundRect">
            <a:avLst>
              <a:gd name="adj" fmla="val 118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50122" y="3459361"/>
            <a:ext cx="19078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😢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550122" y="3764161"/>
            <a:ext cx="190788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부정 15%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영화 리뷰 감성 분석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358503"/>
            <a:ext cx="3848100" cy="1108472"/>
          </a:xfrm>
          <a:prstGeom prst="roundRect">
            <a:avLst>
              <a:gd name="adj" fmla="val 10311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8150" y="1358503"/>
            <a:ext cx="0" cy="110847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7700" y="1549003"/>
            <a:ext cx="34975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7700" y="1838474"/>
            <a:ext cx="34975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리뷰 데이터로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7700" y="2063204"/>
            <a:ext cx="349758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긍정/부정 분류 85%+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9100" y="2619375"/>
            <a:ext cx="3848100" cy="925711"/>
          </a:xfrm>
          <a:prstGeom prst="roundRect">
            <a:avLst>
              <a:gd name="adj" fmla="val 123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1500" y="2771775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IMDB 데이터셋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71500" y="3034605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영화 리뷰 50,000개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1500" y="3232696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 25,000 + 부정 25,000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9100" y="3659386"/>
            <a:ext cx="3848100" cy="1123801"/>
          </a:xfrm>
          <a:prstGeom prst="roundRect">
            <a:avLst>
              <a:gd name="adj" fmla="val 101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3811786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구조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4074616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Embedding(10000, 128)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1500" y="4272707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LSTM(64)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1500" y="4470797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Dense(1, sigmoid)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95800" y="1469975"/>
            <a:ext cx="4229100" cy="3201739"/>
          </a:xfrm>
          <a:prstGeom prst="roundRect">
            <a:avLst>
              <a:gd name="adj" fmla="val 3570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86300" y="1660475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86300" y="1972866"/>
            <a:ext cx="3848100" cy="834182"/>
          </a:xfrm>
          <a:prstGeom prst="roundRect">
            <a:avLst>
              <a:gd name="adj" fmla="val 9135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9650" y="2106216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긍정 리뷰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9650" y="2323356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movie is absolutely amazing! Great acting and storyline."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819650" y="2527102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긍정 92%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4686300" y="2921347"/>
            <a:ext cx="3848100" cy="834182"/>
          </a:xfrm>
          <a:prstGeom prst="roundRect">
            <a:avLst>
              <a:gd name="adj" fmla="val 9135"/>
            </a:avLst>
          </a:prstGeom>
          <a:solidFill>
            <a:srgbClr val="3D1A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19650" y="3054697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부정 리뷰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19650" y="3271838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"Worst movie ever. Complete waste of time and money."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819650" y="3475583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부정 95%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86300" y="3907929"/>
            <a:ext cx="3848100" cy="573286"/>
          </a:xfrm>
          <a:prstGeom prst="roundRect">
            <a:avLst>
              <a:gd name="adj" fmla="val 132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00600" y="4022229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4220319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본인이 작성한 리뷰로 테스트!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4 - 자연어 처리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6925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Transformer와 사전학습 모델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567904"/>
            <a:ext cx="3848100" cy="925711"/>
          </a:xfrm>
          <a:prstGeom prst="roundRect">
            <a:avLst>
              <a:gd name="adj" fmla="val 123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720304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LSTM의 한계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983135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순서대로 처리 → 느림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2181225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문장에서 성능 저하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9100" y="2607915"/>
            <a:ext cx="3848100" cy="925711"/>
          </a:xfrm>
          <a:prstGeom prst="roundRect">
            <a:avLst>
              <a:gd name="adj" fmla="val 12347"/>
            </a:avLst>
          </a:prstGeom>
          <a:solidFill>
            <a:srgbClr val="3D2F1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150" y="2607915"/>
            <a:ext cx="0" cy="925711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9600" y="2760315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(2017)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3023146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Attention으로 모든 단어 동시 처리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3221236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GPT, BERT의 기반 구조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9100" y="3647926"/>
            <a:ext cx="3848100" cy="925711"/>
          </a:xfrm>
          <a:prstGeom prst="roundRect">
            <a:avLst>
              <a:gd name="adj" fmla="val 123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3800326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4063157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사전학습 모델 저장소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1500" y="4261247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3줄 코드로 최신 AI 사용!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95800" y="1647974"/>
            <a:ext cx="4229100" cy="2845743"/>
          </a:xfrm>
          <a:prstGeom prst="roundRect">
            <a:avLst>
              <a:gd name="adj" fmla="val 4017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86300" y="1838474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Face로 감성 분석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6300" y="2112764"/>
            <a:ext cx="3848100" cy="1026616"/>
          </a:xfrm>
          <a:prstGeom prst="roundRect">
            <a:avLst>
              <a:gd name="adj" fmla="val 74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9650" y="2246114"/>
            <a:ext cx="36530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450"/>
              </a:spcAft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3줄이면 끝!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819650" y="2449860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transformers import pipeline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19650" y="2647950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= pipeline("sentiment-analysis")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19650" y="2846040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= classifier("I love this!")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86300" y="3253680"/>
            <a:ext cx="3848100" cy="388590"/>
          </a:xfrm>
          <a:prstGeom prst="roundRect">
            <a:avLst>
              <a:gd name="adj" fmla="val 19609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00600" y="3367980"/>
            <a:ext cx="36918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출력: {'label': 'POSITIVE', 'score': 0.99}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86300" y="3756571"/>
            <a:ext cx="3848100" cy="546646"/>
          </a:xfrm>
          <a:prstGeom prst="roundRect">
            <a:avLst>
              <a:gd name="adj" fmla="val 1394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0600" y="3870871"/>
            <a:ext cx="36918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파이프라인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800600" y="4055566"/>
            <a:ext cx="36918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감성분석, 번역, 요약, 질의응답, 텍스트생성...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87439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5 - 생성 AI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85750" y="50289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AI의 시대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9100" y="1581299"/>
            <a:ext cx="3848100" cy="912316"/>
          </a:xfrm>
          <a:prstGeom prst="roundRect">
            <a:avLst>
              <a:gd name="adj" fmla="val 1252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500" y="1733699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 AI (지금까지)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1500" y="1996529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→ 카테고리 출력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1500" y="2194620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사진은 고양이입니다"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19100" y="2607915"/>
            <a:ext cx="3848100" cy="912316"/>
          </a:xfrm>
          <a:prstGeom prst="roundRect">
            <a:avLst>
              <a:gd name="adj" fmla="val 12529"/>
            </a:avLst>
          </a:prstGeom>
          <a:solidFill>
            <a:srgbClr val="1A3D3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38150" y="2607915"/>
            <a:ext cx="0" cy="912316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09600" y="2760315"/>
            <a:ext cx="357530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 AI (Generative AI)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3023146"/>
            <a:ext cx="35753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→ 새로운 콘텐츠 생성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9600" y="3221236"/>
            <a:ext cx="357530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"우주를 나는 고양이 그려줘"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19100" y="3634532"/>
            <a:ext cx="3848100" cy="925711"/>
          </a:xfrm>
          <a:prstGeom prst="roundRect">
            <a:avLst>
              <a:gd name="adj" fmla="val 1234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71500" y="3786932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모델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71500" y="4049762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이미지: DALL-E, Stable Diffusion, Midjourney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1500" y="4247852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텍스트: GPT-4, Claude, Gemini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95800" y="1754684"/>
            <a:ext cx="4229100" cy="2632323"/>
          </a:xfrm>
          <a:prstGeom prst="roundRect">
            <a:avLst>
              <a:gd name="adj" fmla="val 4342"/>
            </a:avLst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86300" y="1945184"/>
            <a:ext cx="392506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12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실습할 것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6300" y="2257574"/>
            <a:ext cx="3848100" cy="912316"/>
          </a:xfrm>
          <a:prstGeom prst="roundRect">
            <a:avLst>
              <a:gd name="adj" fmla="val 12529"/>
            </a:avLst>
          </a:prstGeom>
          <a:solidFill>
            <a:srgbClr val="4A1D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38700" y="2409974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7: Stable Diffusion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38700" y="2672804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→ 이미지 생성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38700" y="2870895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cat astronaut in space"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3284190"/>
            <a:ext cx="3848100" cy="912316"/>
          </a:xfrm>
          <a:prstGeom prst="roundRect">
            <a:avLst>
              <a:gd name="adj" fmla="val 1252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38700" y="3436590"/>
            <a:ext cx="361416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8: GPT API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38700" y="3699421"/>
            <a:ext cx="36141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나만의 챗봇 만들기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38700" y="3897511"/>
            <a:ext cx="36141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프롬프트로 성격 설정</a:t>
            </a:r>
            <a:endParaRPr lang="en-US" sz="8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66700"/>
            <a:ext cx="43816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19100" y="1200596"/>
            <a:ext cx="403860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1333946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신경망 기초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50" y="1545282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뉴런, 층, 학습 원리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19100" y="1920478"/>
            <a:ext cx="403860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2450" y="2053828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EC4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CNN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52450" y="2265164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Conv, Pool, 이미지 분류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19100" y="2640360"/>
            <a:ext cx="403860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2450" y="2773710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전이학습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52450" y="298504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ResNet으로 개/고양이 분류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19100" y="3360241"/>
            <a:ext cx="403860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2450" y="3493591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NLP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52450" y="3704927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LSTM, Transformer, Hugging Face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19100" y="4080123"/>
            <a:ext cx="4038600" cy="624632"/>
          </a:xfrm>
          <a:prstGeom prst="roundRect">
            <a:avLst>
              <a:gd name="adj" fmla="val 1524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2450" y="4213473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생성 AI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52450" y="4424809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생성, GPT 챗봇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4686300" y="1410146"/>
            <a:ext cx="41193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배우고 싶다면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86300" y="1711077"/>
            <a:ext cx="4038600" cy="624632"/>
          </a:xfrm>
          <a:prstGeom prst="roundRect">
            <a:avLst>
              <a:gd name="adj" fmla="val 1524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9650" y="1844427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fast.ai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4819650" y="2055763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중심 무료 딥러닝 강의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686300" y="2430959"/>
            <a:ext cx="4038600" cy="624632"/>
          </a:xfrm>
          <a:prstGeom prst="roundRect">
            <a:avLst>
              <a:gd name="adj" fmla="val 1524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19650" y="2564309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Course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819650" y="2775645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NLP/Transformer 무료 강의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86300" y="3150840"/>
            <a:ext cx="4038600" cy="624632"/>
          </a:xfrm>
          <a:prstGeom prst="roundRect">
            <a:avLst>
              <a:gd name="adj" fmla="val 1524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19650" y="3284190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Competitions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4819650" y="3495526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문제 풀며 실력 향상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686300" y="3870722"/>
            <a:ext cx="4038600" cy="624632"/>
          </a:xfrm>
          <a:prstGeom prst="roundRect">
            <a:avLst>
              <a:gd name="adj" fmla="val 1524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19650" y="4004072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논문 읽기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4819650" y="4215408"/>
            <a:ext cx="384733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arxiv.org, Papers With Code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1378</Words>
  <Application>Microsoft Macintosh PowerPoint</Application>
  <PresentationFormat>화면 슬라이드 쇼(16:9)</PresentationFormat>
  <Paragraphs>376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딥러닝 실습 - 6시간 워크숍</dc:title>
  <dc:subject>PptxGenJS Presentation</dc:subject>
  <dc:creator>DL Workshop</dc:creator>
  <cp:lastModifiedBy>Henry Bae</cp:lastModifiedBy>
  <cp:revision>2</cp:revision>
  <dcterms:created xsi:type="dcterms:W3CDTF">2026-01-19T12:30:32Z</dcterms:created>
  <dcterms:modified xsi:type="dcterms:W3CDTF">2026-01-20T16:44:35Z</dcterms:modified>
</cp:coreProperties>
</file>